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Priceless Bank</c:v>
                </c:pt>
              </c:strCache>
            </c:strRef>
          </c:tx>
          <c:spPr>
            <a:solidFill>
              <a:srgbClr val="E5484D"/>
            </a:solidFill>
            <a:ln w="381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28</c:v>
                </c:pt>
                <c:pt idx="2">
                  <c:v>21</c:v>
                </c:pt>
                <c:pt idx="3">
                  <c:v>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LuminaPay</c:v>
                </c:pt>
              </c:strCache>
            </c:strRef>
          </c:tx>
          <c:spPr>
            <a:solidFill>
              <a:srgbClr val="00A896"/>
            </a:solidFill>
            <a:ln w="381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23</c:v>
                </c:pt>
                <c:pt idx="2">
                  <c:v>28</c:v>
                </c:pt>
                <c:pt idx="3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Aurora Bank</c:v>
                </c:pt>
              </c:strCache>
            </c:strRef>
          </c:tx>
          <c:spPr>
            <a:solidFill>
              <a:srgbClr val="4A79C4"/>
            </a:solidFill>
            <a:ln w="38100" cap="flat">
              <a:solidFill>
                <a:srgbClr val="4A79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A79C4"/>
              </a:solidFill>
              <a:ln w="9525" cap="flat">
                <a:solidFill>
                  <a:srgbClr val="4A79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</c:v>
                </c:pt>
                <c:pt idx="1">
                  <c:v>7</c:v>
                </c:pt>
                <c:pt idx="2">
                  <c:v>11</c:v>
                </c:pt>
                <c:pt idx="3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Clientes ativos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ativos</c:v>
                </c:pt>
              </c:strCache>
            </c:strRef>
          </c:tx>
          <c:spPr>
            <a:solidFill>
              <a:srgbClr val="5A678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1403</c:v>
                </c:pt>
                <c:pt idx="1">
                  <c:v>1402</c:v>
                </c:pt>
                <c:pt idx="2">
                  <c:v>1377</c:v>
                </c:pt>
                <c:pt idx="3">
                  <c:v>1361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Transações por cliente ativo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Transações por cliente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1T25</c:v>
                  </c:pt>
                  <c:pt idx="1">
                    <c:v>2T25</c:v>
                  </c:pt>
                  <c:pt idx="2">
                    <c:v>3T25</c:v>
                  </c:pt>
                  <c:pt idx="3">
                    <c:v>4T25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13.6</c:v>
                </c:pt>
                <c:pt idx="1">
                  <c:v>13.3</c:v>
                </c:pt>
                <c:pt idx="2">
                  <c:v>9.3</c:v>
                </c:pt>
                <c:pt idx="3">
                  <c:v>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Contas abertas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Contas abertas</c:v>
                </c:pt>
              </c:strCache>
            </c:strRef>
          </c:tx>
          <c:spPr>
            <a:solidFill>
              <a:srgbClr val="5A67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2023*</c:v>
                  </c:pt>
                  <c:pt idx="1">
                    <c:v>1T24</c:v>
                  </c:pt>
                  <c:pt idx="2">
                    <c:v>2T24</c:v>
                  </c:pt>
                  <c:pt idx="3">
                    <c:v>3T24</c:v>
                  </c:pt>
                  <c:pt idx="4">
                    <c:v>4T24</c:v>
                  </c:pt>
                  <c:pt idx="5">
                    <c:v>1T25</c:v>
                  </c:pt>
                  <c:pt idx="6">
                    <c:v>2T25</c:v>
                  </c:pt>
                  <c:pt idx="7">
                    <c:v>3T25</c:v>
                  </c:pt>
                  <c:pt idx="8">
                    <c:v>4T25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</c:v>
                </c:pt>
                <c:pt idx="1">
                  <c:v>43</c:v>
                </c:pt>
                <c:pt idx="2">
                  <c:v>63</c:v>
                </c:pt>
                <c:pt idx="3">
                  <c:v>58</c:v>
                </c:pt>
                <c:pt idx="4">
                  <c:v>60</c:v>
                </c:pt>
                <c:pt idx="5">
                  <c:v>84</c:v>
                </c:pt>
                <c:pt idx="6">
                  <c:v>52</c:v>
                </c:pt>
                <c:pt idx="7">
                  <c:v>26</c:v>
                </c:pt>
                <c:pt idx="8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23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3223F"/>
                </a:solidFill>
                <a:latin typeface="Arial"/>
              </a:rPr>
              <a:t>Cartões emitidos por trimestre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Cartões emitidos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2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4T24</c:v>
                  </c:pt>
                  <c:pt idx="1">
                    <c:v>1T25</c:v>
                  </c:pt>
                  <c:pt idx="2">
                    <c:v>2T25</c:v>
                  </c:pt>
                  <c:pt idx="3">
                    <c:v>3T25</c:v>
                  </c:pt>
                  <c:pt idx="4">
                    <c:v>4T25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</c:v>
                </c:pt>
                <c:pt idx="1">
                  <c:v>26</c:v>
                </c:pt>
                <c:pt idx="2">
                  <c:v>3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2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share do Priceless Bank caiu 14 pontos em um ano. Vamos mostrar por quê, e o que fazer.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benchmarking diz que caímos de 33 para 19 enquanto LuminaPay dobrou. A pergunta que abriu o trabalho: é fuga de cliente ou queda de uso?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etapas. O ponto importante é a última linha: não usamos valor em reais, e o próximo slide explica por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Achar isso foi parte do trabalho. Se tivéssemos somado reais, teríamos reportado um crescimento de 156% em 2024 que nunca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virada do diagnóstico. Campanha de retenção não resolveria nada: não há quem reter.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benchmarking, Papaya tem 42,7% de principalidade e LuminaPay 37,4%. Aqui esse número é perto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rampa 249 → 26 → 3 → 0 tem cara de decisão sendo tomada aos poucos, não de falha de sistema. É a primeira pergunta para 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essa cadeia que ordena as frentes de ação: resolver o vínculo antes de tentar reativar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ordem importa: sem resolver o vínculo, campanha de transação é dinheiro no sintoma.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uma pergunta, não um projeto: custa uma reunião e a resposta destrava ou invalida o resto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métrica só para acompanhar tudo: quanto cada cliente usa o banco. É o número que resume o diagnóstico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Disputar principalidade, não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Priceless Bank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9509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share caiu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33% para 19%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a partir de 5 bases de dados e plano de ação em 3 frentes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Challenge 2026  ·  Inteli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por valor transacionado, segundo o benchmarking da Mastercard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600200"/>
          <a:ext cx="6858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737360"/>
            <a:ext cx="3749040" cy="1600200"/>
          </a:xfrm>
          <a:prstGeom prst="roundRect">
            <a:avLst>
              <a:gd name="adj" fmla="val 4571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0" y="1828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-14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955280" y="2651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share perdidos em quatro trimestres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72400" y="3520440"/>
            <a:ext cx="3749040" cy="219456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55280" y="36393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55280" y="3950208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foram embora, ou continuam aqui usando menos?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hipóteses explicam a queda. Só os dados separam.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benchmarking Mastercard (share) · bases internas do Priceless Bank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chegamos ao diagnóstico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etapas, documentadas em três notebooks e um relatório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68680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bases, 458 mil linhas.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que existe 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queda aparece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73552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493008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21608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21608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Limpar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721608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decisões de tratamento.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linha excluída: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tem conserto é marcado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0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45936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74536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574536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hipóteses com veredito.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com as explicações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rivais testadas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79408" y="306324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9198864" y="182880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27464" y="2084832"/>
            <a:ext cx="566928" cy="566928"/>
          </a:xfrm>
          <a:prstGeom prst="ellipse">
            <a:avLst/>
          </a:prstGeom>
          <a:solidFill>
            <a:srgbClr val="13223F"/>
          </a:solidFill>
          <a:ln/>
        </p:spPr>
      </p:sp>
      <p:sp>
        <p:nvSpPr>
          <p:cNvPr id="26" name="Text 24"/>
          <p:cNvSpPr/>
          <p:nvPr/>
        </p:nvSpPr>
        <p:spPr>
          <a:xfrm>
            <a:off x="9427464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427464" y="27889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Recomendar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27464" y="321868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frentes de ação,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ligadas uma a uma aos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que sobreviveram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que atravessa todo o trabalho: o diagnóstico é feito sobre contagem e frequência, nunca sobre valor em reais.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1_exploracao_inicial.ipynb  ·  2_limpeza_de_dados.ipynb  ·  3_validacao_de_hipoteses.ipynb  ·  4_conclusoes_e_recomendacoes.md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concluir, o que os dados não permitem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defeitos que mudam o que pode ser afirmado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9019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 sorteado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402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 e 2025 o valor da compra segue distribuição uniforme entre R$ 0 e R$ 1.200. Consumo real nunca tem esse formato.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366760" y="1783080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10" name="Text 8"/>
          <p:cNvSpPr/>
          <p:nvPr/>
        </p:nvSpPr>
        <p:spPr>
          <a:xfrm>
            <a:off x="8549640" y="189280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médio e segmentação por valor são inanalisáveis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081528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200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Régua trocada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6112" y="3538728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valores mudam de escala duas vezes: cartão em 2024 (1,9x) e PIX em ago/2025 (4,1x). A distribuição inteira se desloca e volta.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3081528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15" name="Text 13"/>
          <p:cNvSpPr/>
          <p:nvPr/>
        </p:nvSpPr>
        <p:spPr>
          <a:xfrm>
            <a:off x="8549640" y="3191256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Somar reais entre períodos daria +156% que não existiu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79976"/>
            <a:ext cx="7498080" cy="1133856"/>
          </a:xfrm>
          <a:prstGeom prst="roundRect">
            <a:avLst>
              <a:gd name="adj" fmla="val 645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498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meses vazios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6112" y="4837176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PIX não tem nenhum registro entre janeiro e julho de 2025, e volta num patamar 40% maior.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4379976"/>
            <a:ext cx="3154680" cy="1133856"/>
          </a:xfrm>
          <a:prstGeom prst="roundRect">
            <a:avLst>
              <a:gd name="adj" fmla="val 6452"/>
            </a:avLst>
          </a:prstGeom>
          <a:solidFill>
            <a:srgbClr val="13223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4489704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tendência de PIX em 2025 é afirmável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 todo o diagnóstico é construído sobre contagem, frequência e participação.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não é perder cliente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da queda dentro de 2025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303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0080" y="3794760"/>
          <a:ext cx="5303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309360" y="17373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4652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-3%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6446520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carteira de clientes praticamente não mudou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309360" y="3794760"/>
            <a:ext cx="2468880" cy="1874520"/>
          </a:xfrm>
          <a:prstGeom prst="roundRect">
            <a:avLst>
              <a:gd name="adj" fmla="val 390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39319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-48%</a:t>
            </a:r>
            <a:endParaRPr lang="en-US" sz="4200" dirty="0"/>
          </a:p>
        </p:txBody>
      </p:sp>
      <p:sp>
        <p:nvSpPr>
          <p:cNvPr id="13" name="Text 9"/>
          <p:cNvSpPr/>
          <p:nvPr/>
        </p:nvSpPr>
        <p:spPr>
          <a:xfrm>
            <a:off x="6446520" y="4709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cada cliente usa o banco desabou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052560" y="1737360"/>
            <a:ext cx="2468880" cy="3931920"/>
          </a:xfrm>
          <a:prstGeom prst="roundRect">
            <a:avLst>
              <a:gd name="adj" fmla="val 2963"/>
            </a:avLst>
          </a:prstGeom>
          <a:solidFill>
            <a:srgbClr val="13223F"/>
          </a:solidFill>
          <a:ln/>
        </p:spPr>
      </p:sp>
      <p:sp>
        <p:nvSpPr>
          <p:cNvPr id="15" name="Text 11"/>
          <p:cNvSpPr/>
          <p:nvPr/>
        </p:nvSpPr>
        <p:spPr>
          <a:xfrm>
            <a:off x="923544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churn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9235440" y="25146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27 clientes sumiram entre os semestres de 2025.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da base transacionou nos últimos 12 dias.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2,2% estão parados há mais de seis meses.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235440" y="4800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não fechou a conta. Ele parou de usar.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a conta nunca foi a principal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Procuramos o salário do cliente na base e ele não está lá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clientes recebem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de PJ com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regularidade mensal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3008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21608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R$ 160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21608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recebimento mediano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PJ. Não é salário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ninguém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45936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4536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7,4x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574536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dinheiro sai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que entra, por PIX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98864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27464" y="19659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427464" y="30175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1.430 clientes têm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líquido negativo.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uma exceção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3223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5537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funciona como conta de passagem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60120" y="49834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dinheiro chega de outro lugar e é empurrado para fora no mesmo dia. Um banco que nunca foi o principal não precisa perder o cliente para deixar de ser usado.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 entrada de clientes novos parou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e emissão de cartão, por trimestre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9494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0080" y="3886200"/>
          <a:ext cx="694944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863840" y="1783080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0" y="193852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-85%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046720" y="2743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queda na abertura de contas entre 2023 e o 4T25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863840" y="38862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13223F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0" y="4041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cartões há 7 meses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8046720" y="4462272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sai junto com a conta, nunca a pedido. Em 2025 o banco abriu 189 contas e emitiu 27 cartões.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média trimestral de 2023, excluída a carga inicial da base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cadeia causal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7043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achados validados, encadeados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conta nunca foi a principal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salário entrando, saindo 7,4x mais do que entra, e nenhum cliente com fluxo positivo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60920" y="2103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vínculo é fraco por construção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52160" y="30723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675888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75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351129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vínculo, o uso esvazia sozinho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00200" y="3931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-48% com a carteira intacta. Só 27 clientes sumiram no ano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60920" y="358444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de share-of-wallet, não churn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852160" y="4553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791456"/>
            <a:ext cx="10881360" cy="1243584"/>
          </a:xfrm>
          <a:prstGeom prst="roundRect">
            <a:avLst>
              <a:gd name="adj" fmla="val 5882"/>
            </a:avLst>
          </a:prstGeom>
          <a:solidFill>
            <a:srgbClr val="2436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5157216"/>
            <a:ext cx="512064" cy="51206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572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600200" y="49926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 entrada de novos parou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00200" y="541324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-85% e zero cartões emitidos desde junho de 2025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50657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reposição pela outra ponta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frentes de ação, mais uma de higiene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ligada a um achado que sobreviveu ao teste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raiz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611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Conquistar a principalidade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9611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Portabilidade de salário assistida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Open Finance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 no saldo em conta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5196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799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450799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16636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urgência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0799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Reabrir o funil de entrada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0799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por que a emissão parou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de conta 100% digital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 assistida em 30 dias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863840" y="178308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6FA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19872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811987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77824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quick win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19872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Destravar o investimento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19872" y="3310128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Recadastrar os 255 sem renda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fluxo de suitability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que vira limite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2803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3223F"/>
          </a:solidFill>
          <a:ln/>
        </p:spPr>
      </p:sp>
      <p:sp>
        <p:nvSpPr>
          <p:cNvPr id="25" name="Shape 23"/>
          <p:cNvSpPr/>
          <p:nvPr/>
        </p:nvSpPr>
        <p:spPr>
          <a:xfrm>
            <a:off x="960120" y="5138928"/>
            <a:ext cx="438912" cy="43891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5138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536192" y="50109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Higiene competitiva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069080" y="5010912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PIX é reprovado, 19x a taxa do cartão. É problema real, mas a taxa é estável desde 2023 e não explica a queda. Consertar em paralelo, sem consumir a prioridade das outras três.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onde começar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Ordenado por retorno sobre esforço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2668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5548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93976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1ª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14884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por que a emissão de cartão parou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26680" y="2148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555480" y="2148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71576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2ª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715768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Recadastrar os 255 clientes sem renda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26680" y="27157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55480" y="27157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22783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8269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3ª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28269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domicílio de renda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26680" y="32826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555480" y="32826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384962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4ª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17320" y="3849624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de conta 100% digital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6680" y="38496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55480" y="38496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36168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41655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5ª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17320" y="441655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que vira limite de cartão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26680" y="44165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555480" y="441655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4983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6ª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417320" y="498348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 assistida de cartão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26680" y="4983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555480" y="4983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549554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4F6FA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55040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7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7ª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417320" y="5550408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Investigação técnica do PIX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26680" y="55504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5504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primeiras custam pouco e destravam o resto. A terceira resolve a raiz, e por isso começa junto mesmo sendo a mais lenta.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11480"/>
            <a:ext cx="10195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24128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janelas, do conserto imediato à mudança estrutural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E5484D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Parar a hemorragia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por que a emissão parou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sobre os 255 sem renda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Instrumentar os 8 KPIs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tamanho do buraco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73552" y="1993392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93008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E08A2E"/>
          </a:solidFill>
          <a:ln/>
        </p:spPr>
      </p:sp>
      <p:sp>
        <p:nvSpPr>
          <p:cNvPr id="12" name="Text 10"/>
          <p:cNvSpPr/>
          <p:nvPr/>
        </p:nvSpPr>
        <p:spPr>
          <a:xfrm>
            <a:off x="3602736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wins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completo em 97%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de ativação assistida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portabilidade em 1 praça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38728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B0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sem projeto grande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1993392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45936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3E8FB0"/>
          </a:solidFill>
          <a:ln/>
        </p:spPr>
      </p:sp>
      <p:sp>
        <p:nvSpPr>
          <p:cNvPr id="17" name="Text 15"/>
          <p:cNvSpPr/>
          <p:nvPr/>
        </p:nvSpPr>
        <p:spPr>
          <a:xfrm>
            <a:off x="6455664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Reabrir a entrada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91656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100% digital em produção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Finance ativo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novas contas por trimestre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91656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E8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 a entrar cliente novo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979408" y="1993392"/>
            <a:ext cx="219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98864" y="178308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9308592" y="1783080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Principalidade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44584" y="269748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Domicílio de renda em escala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vira limite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com crédito recorrente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44584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salário passa a cair aqui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983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3223F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5166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Métrica-mãe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0" y="51663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Transações por cliente ativo por trimestre. Hoje 7,1, com teto histórico de 13,7 em 2023. Recuperar o patamar de 2023 é o alvo de 24 meses.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banco não está perdendo clientes.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Nunca foi o banco principal deles,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agora parou de conquistar novos.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6916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hipóteses testadas,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refutadas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2976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3492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tratamento,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linha excluída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955280" y="44348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006840" y="4480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frentes de ação ligadas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achados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Challenge 2026  ·  Inteli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Priceless Bank — Diagnóstico e Plano de Ação</dc:title>
  <dc:subject>PptxGenJS Presentation</dc:subject>
  <dc:creator>Inteli · Mastercard Challenge 2026</dc:creator>
  <cp:lastModifiedBy>Inteli · Mastercard Challenge 2026</cp:lastModifiedBy>
  <cp:revision>1</cp:revision>
  <dcterms:created xsi:type="dcterms:W3CDTF">2026-08-23T19:28:41Z</dcterms:created>
  <dcterms:modified xsi:type="dcterms:W3CDTF">2026-08-23T19:28:41Z</dcterms:modified>
</cp:coreProperties>
</file>