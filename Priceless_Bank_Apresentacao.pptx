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Priceless Bank</c:v>
                </c:pt>
              </c:strCache>
            </c:strRef>
          </c:tx>
          <c:spPr>
            <a:solidFill>
              <a:srgbClr val="E5484D"/>
            </a:solidFill>
            <a:ln w="38100" cap="flat">
              <a:solidFill>
                <a:srgbClr val="E548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5484D"/>
              </a:solidFill>
              <a:ln w="9525" cap="flat">
                <a:solidFill>
                  <a:srgbClr val="E548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1T25</c:v>
                  </c:pt>
                  <c:pt idx="1">
                    <c:v>2T25</c:v>
                  </c:pt>
                  <c:pt idx="2">
                    <c:v>3T25</c:v>
                  </c:pt>
                  <c:pt idx="3">
                    <c:v>4T25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</c:v>
                </c:pt>
                <c:pt idx="1">
                  <c:v>28</c:v>
                </c:pt>
                <c:pt idx="2">
                  <c:v>21</c:v>
                </c:pt>
                <c:pt idx="3">
                  <c:v>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LuminaPay</c:v>
                </c:pt>
              </c:strCache>
            </c:strRef>
          </c:tx>
          <c:spPr>
            <a:solidFill>
              <a:srgbClr val="00A896"/>
            </a:solidFill>
            <a:ln w="38100" cap="flat">
              <a:solidFill>
                <a:srgbClr val="00A8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896"/>
              </a:solidFill>
              <a:ln w="9525" cap="flat">
                <a:solidFill>
                  <a:srgbClr val="00A8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1T25</c:v>
                  </c:pt>
                  <c:pt idx="1">
                    <c:v>2T25</c:v>
                  </c:pt>
                  <c:pt idx="2">
                    <c:v>3T25</c:v>
                  </c:pt>
                  <c:pt idx="3">
                    <c:v>4T25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17</c:v>
                </c:pt>
                <c:pt idx="1">
                  <c:v>23</c:v>
                </c:pt>
                <c:pt idx="2">
                  <c:v>28</c:v>
                </c:pt>
                <c:pt idx="3">
                  <c:v>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Aurora Bank</c:v>
                </c:pt>
              </c:strCache>
            </c:strRef>
          </c:tx>
          <c:spPr>
            <a:solidFill>
              <a:srgbClr val="4A79C4"/>
            </a:solidFill>
            <a:ln w="38100" cap="flat">
              <a:solidFill>
                <a:srgbClr val="4A79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A79C4"/>
              </a:solidFill>
              <a:ln w="9525" cap="flat">
                <a:solidFill>
                  <a:srgbClr val="4A79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1T25</c:v>
                  </c:pt>
                  <c:pt idx="1">
                    <c:v>2T25</c:v>
                  </c:pt>
                  <c:pt idx="2">
                    <c:v>3T25</c:v>
                  </c:pt>
                  <c:pt idx="3">
                    <c:v>4T25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</c:v>
                </c:pt>
                <c:pt idx="1">
                  <c:v>7</c:v>
                </c:pt>
                <c:pt idx="2">
                  <c:v>11</c:v>
                </c:pt>
                <c:pt idx="3">
                  <c:v>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12700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23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3223F"/>
                </a:solidFill>
                <a:latin typeface="Arial"/>
              </a:rPr>
              <a:t>Clientes ativos por trimestre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ativos</c:v>
                </c:pt>
              </c:strCache>
            </c:strRef>
          </c:tx>
          <c:spPr>
            <a:solidFill>
              <a:srgbClr val="5A678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2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1T25</c:v>
                  </c:pt>
                  <c:pt idx="1">
                    <c:v>2T25</c:v>
                  </c:pt>
                  <c:pt idx="2">
                    <c:v>3T25</c:v>
                  </c:pt>
                  <c:pt idx="3">
                    <c:v>4T25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1403</c:v>
                </c:pt>
                <c:pt idx="1">
                  <c:v>1402</c:v>
                </c:pt>
                <c:pt idx="2">
                  <c:v>1377</c:v>
                </c:pt>
                <c:pt idx="3">
                  <c:v>1361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322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23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3223F"/>
                </a:solidFill>
                <a:latin typeface="Arial"/>
              </a:rPr>
              <a:t>Transações por cliente ativo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Transações por cliente</c:v>
                </c:pt>
              </c:strCache>
            </c:strRef>
          </c:tx>
          <c:spPr>
            <a:solidFill>
              <a:srgbClr val="E5484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2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1T25</c:v>
                  </c:pt>
                  <c:pt idx="1">
                    <c:v>2T25</c:v>
                  </c:pt>
                  <c:pt idx="2">
                    <c:v>3T25</c:v>
                  </c:pt>
                  <c:pt idx="3">
                    <c:v>4T25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13.6</c:v>
                </c:pt>
                <c:pt idx="1">
                  <c:v>13.3</c:v>
                </c:pt>
                <c:pt idx="2">
                  <c:v>9.3</c:v>
                </c:pt>
                <c:pt idx="3">
                  <c:v>7.1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322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23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3223F"/>
                </a:solidFill>
                <a:latin typeface="Arial"/>
              </a:rPr>
              <a:t>Contas abertas por trimestre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Contas abertas</c:v>
                </c:pt>
              </c:strCache>
            </c:strRef>
          </c:tx>
          <c:spPr>
            <a:solidFill>
              <a:srgbClr val="5A67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322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2023*</c:v>
                  </c:pt>
                  <c:pt idx="1">
                    <c:v>1T24</c:v>
                  </c:pt>
                  <c:pt idx="2">
                    <c:v>2T24</c:v>
                  </c:pt>
                  <c:pt idx="3">
                    <c:v>3T24</c:v>
                  </c:pt>
                  <c:pt idx="4">
                    <c:v>4T24</c:v>
                  </c:pt>
                  <c:pt idx="5">
                    <c:v>1T25</c:v>
                  </c:pt>
                  <c:pt idx="6">
                    <c:v>2T25</c:v>
                  </c:pt>
                  <c:pt idx="7">
                    <c:v>3T25</c:v>
                  </c:pt>
                  <c:pt idx="8">
                    <c:v>4T25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</c:v>
                </c:pt>
                <c:pt idx="1">
                  <c:v>43</c:v>
                </c:pt>
                <c:pt idx="2">
                  <c:v>63</c:v>
                </c:pt>
                <c:pt idx="3">
                  <c:v>58</c:v>
                </c:pt>
                <c:pt idx="4">
                  <c:v>60</c:v>
                </c:pt>
                <c:pt idx="5">
                  <c:v>84</c:v>
                </c:pt>
                <c:pt idx="6">
                  <c:v>52</c:v>
                </c:pt>
                <c:pt idx="7">
                  <c:v>26</c:v>
                </c:pt>
                <c:pt idx="8">
                  <c:v>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322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23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3223F"/>
                </a:solidFill>
                <a:latin typeface="Arial"/>
              </a:rPr>
              <a:t>Cartões emitidos por trimestre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Cartões emitidos</c:v>
                </c:pt>
              </c:strCache>
            </c:strRef>
          </c:tx>
          <c:spPr>
            <a:solidFill>
              <a:srgbClr val="E54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2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4T24</c:v>
                  </c:pt>
                  <c:pt idx="1">
                    <c:v>1T25</c:v>
                  </c:pt>
                  <c:pt idx="2">
                    <c:v>2T25</c:v>
                  </c:pt>
                  <c:pt idx="3">
                    <c:v>3T25</c:v>
                  </c:pt>
                  <c:pt idx="4">
                    <c:v>4T25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</c:v>
                </c:pt>
                <c:pt idx="1">
                  <c:v>26</c:v>
                </c:pt>
                <c:pt idx="2">
                  <c:v>3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322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O share do Priceless Bank caiu 14 pontos em um ano. Vamos mostrar por quê, e o que fazer.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benchmarking diz que caímos de 33 para 19 enquanto LuminaPay dobrou. A pergunta que abriu o trabalho: é fuga de cliente ou queda de uso?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etapas. O ponto importante é a última linha: não usamos valor em reais, e o próximo slide explica por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Achar isso foi parte do trabalho. Se tivéssemos somado reais, teríamos reportado um crescimento de 156% em 2024 que nunca aconteceu.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 é a virada do diagnóstico. Campanha de retenção não resolveria nada: não há quem reter.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benchmarking, Papaya tem 42,7% de principalidade e LuminaPay 37,4%. Aqui esse número é perto de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rampa 249 → 26 → 3 → 0 tem cara de decisão sendo tomada aos poucos, não de falha de sistema. É a primeira pergunta para o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essa cadeia que ordena as frentes de ação: resolver o vínculo antes de tentar reativar transação.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ordem importa: sem resolver o vínculo, campanha de transação é dinheiro no sintoma.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cliente não parou de movimentar dinheiro, movimenta por PIX e para fora. O incentivo paga a troca de trilho, e se paga pelo interchange que a migração gera.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é uma pergunta, não um projeto: custa uma reunião e a resposta destrava ou invalida o resto do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métrica só para acompanhar tudo: quanto cada cliente usa o banco. É o número que resume o diagnóstico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Fecho. Disputar principalidade, não transação.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Priceless Bank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9509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 share caiu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33% para 19%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a partir de 5 bases de dados e plano de ação em 3 frentes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Mastercard Challenge 2026  ·  Inteli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de partida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share por valor transacionado, segundo o benchmarking da Mastercard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600200"/>
          <a:ext cx="6858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772400" y="1737360"/>
            <a:ext cx="3749040" cy="1600200"/>
          </a:xfrm>
          <a:prstGeom prst="roundRect">
            <a:avLst>
              <a:gd name="adj" fmla="val 4571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0" y="18288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-14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7955280" y="26517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share perdidos em quatro trimestres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772400" y="3520440"/>
            <a:ext cx="3749040" cy="219456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55280" y="36393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55280" y="3950208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clientes foram embora, ou continuam aqui usando menos?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hipóteses explicam a queda. Só os dados separam.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benchmarking Mastercard (share) · bases internas do Priceless Bank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chegamos ao diagnóstico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etapas, documentadas em três notebooks e um relatório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084832"/>
            <a:ext cx="566928" cy="566928"/>
          </a:xfrm>
          <a:prstGeom prst="ellipse">
            <a:avLst/>
          </a:prstGeom>
          <a:solidFill>
            <a:srgbClr val="13223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27889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Explorar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68680" y="321868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bases, 458 mil linhas.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o que existe e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queda aparece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273552" y="306324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493008" y="18288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21608" y="2084832"/>
            <a:ext cx="566928" cy="566928"/>
          </a:xfrm>
          <a:prstGeom prst="ellipse">
            <a:avLst/>
          </a:prstGeom>
          <a:solidFill>
            <a:srgbClr val="13223F"/>
          </a:solidFill>
          <a:ln/>
        </p:spPr>
      </p:sp>
      <p:sp>
        <p:nvSpPr>
          <p:cNvPr id="14" name="Text 12"/>
          <p:cNvSpPr/>
          <p:nvPr/>
        </p:nvSpPr>
        <p:spPr>
          <a:xfrm>
            <a:off x="3721608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721608" y="27889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Limpar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721608" y="321868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decisões de tratamento.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linha excluída: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tem conserto é marcado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126480" y="306324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345936" y="18288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74536" y="2084832"/>
            <a:ext cx="566928" cy="566928"/>
          </a:xfrm>
          <a:prstGeom prst="ellipse">
            <a:avLst/>
          </a:prstGeom>
          <a:solidFill>
            <a:srgbClr val="13223F"/>
          </a:solidFill>
          <a:ln/>
        </p:spPr>
      </p:sp>
      <p:sp>
        <p:nvSpPr>
          <p:cNvPr id="20" name="Text 18"/>
          <p:cNvSpPr/>
          <p:nvPr/>
        </p:nvSpPr>
        <p:spPr>
          <a:xfrm>
            <a:off x="6574536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574536" y="27889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321868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hipóteses com veredito.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uma com as explicações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rivais testadas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979408" y="306324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9198864" y="18288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27464" y="2084832"/>
            <a:ext cx="566928" cy="566928"/>
          </a:xfrm>
          <a:prstGeom prst="ellipse">
            <a:avLst/>
          </a:prstGeom>
          <a:solidFill>
            <a:srgbClr val="13223F"/>
          </a:solidFill>
          <a:ln/>
        </p:spPr>
      </p:sp>
      <p:sp>
        <p:nvSpPr>
          <p:cNvPr id="26" name="Text 24"/>
          <p:cNvSpPr/>
          <p:nvPr/>
        </p:nvSpPr>
        <p:spPr>
          <a:xfrm>
            <a:off x="9427464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427464" y="27889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Recomendar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9427464" y="321868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frentes de ação,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ligadas uma a uma aos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que sobreviveram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4709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que atravessa todo o trabalho: o diagnóstico é feito sobre contagem e frequência, nunca sobre valor em reais.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1_exploracao_inicial.ipynb  ·  2_limpeza_de_dados.ipynb  ·  3_validacao_de_hipoteses.ipynb  ·  4_conclusoes_e_recomendacoes.md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concluir, o que os dados não permitem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defeitos que mudam o que pode ser afirmado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7498080" cy="1133856"/>
          </a:xfrm>
          <a:prstGeom prst="roundRect">
            <a:avLst>
              <a:gd name="adj" fmla="val 645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90195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 sorteado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224028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2023 e 2025 o valor da compra segue distribuição uniforme entre R$ 0 e R$ 1.200. Consumo real nunca tem esse formato.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366760" y="1783080"/>
            <a:ext cx="3154680" cy="1133856"/>
          </a:xfrm>
          <a:prstGeom prst="roundRect">
            <a:avLst>
              <a:gd name="adj" fmla="val 6452"/>
            </a:avLst>
          </a:prstGeom>
          <a:solidFill>
            <a:srgbClr val="13223F"/>
          </a:solidFill>
          <a:ln/>
        </p:spPr>
      </p:sp>
      <p:sp>
        <p:nvSpPr>
          <p:cNvPr id="10" name="Text 8"/>
          <p:cNvSpPr/>
          <p:nvPr/>
        </p:nvSpPr>
        <p:spPr>
          <a:xfrm>
            <a:off x="8549640" y="1892808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médio e segmentação por valor são inanalisáveis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081528"/>
            <a:ext cx="7498080" cy="1133856"/>
          </a:xfrm>
          <a:prstGeom prst="roundRect">
            <a:avLst>
              <a:gd name="adj" fmla="val 645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3200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Régua trocada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96112" y="3538728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valores mudam de escala duas vezes: cartão em 2024 (1,9x) e PIX em ago/2025 (4,1x). A distribuição inteira se desloca e volta.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366760" y="3081528"/>
            <a:ext cx="3154680" cy="1133856"/>
          </a:xfrm>
          <a:prstGeom prst="roundRect">
            <a:avLst>
              <a:gd name="adj" fmla="val 6452"/>
            </a:avLst>
          </a:prstGeom>
          <a:solidFill>
            <a:srgbClr val="13223F"/>
          </a:solidFill>
          <a:ln/>
        </p:spPr>
      </p:sp>
      <p:sp>
        <p:nvSpPr>
          <p:cNvPr id="15" name="Text 13"/>
          <p:cNvSpPr/>
          <p:nvPr/>
        </p:nvSpPr>
        <p:spPr>
          <a:xfrm>
            <a:off x="8549640" y="3191256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Somar reais entre períodos daria +156% que não existiu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379976"/>
            <a:ext cx="7498080" cy="1133856"/>
          </a:xfrm>
          <a:prstGeom prst="roundRect">
            <a:avLst>
              <a:gd name="adj" fmla="val 645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4988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 meses vazios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96112" y="4837176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PIX não tem nenhum registro entre janeiro e julho de 2025, e volta num patamar 40% maior.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366760" y="4379976"/>
            <a:ext cx="3154680" cy="1133856"/>
          </a:xfrm>
          <a:prstGeom prst="roundRect">
            <a:avLst>
              <a:gd name="adj" fmla="val 6452"/>
            </a:avLst>
          </a:prstGeom>
          <a:solidFill>
            <a:srgbClr val="13223F"/>
          </a:solidFill>
          <a:ln/>
        </p:spPr>
      </p:sp>
      <p:sp>
        <p:nvSpPr>
          <p:cNvPr id="20" name="Text 18"/>
          <p:cNvSpPr/>
          <p:nvPr/>
        </p:nvSpPr>
        <p:spPr>
          <a:xfrm>
            <a:off x="8549640" y="4489704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tendência de PIX em 2025 é afirmável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 todo o diagnóstico é construído sobre contagem, frequência e participação.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não é perder cliente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 da queda dentro de 2025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37360"/>
          <a:ext cx="530352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0080" y="3794760"/>
          <a:ext cx="530352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6309360" y="1737360"/>
            <a:ext cx="2468880" cy="1874520"/>
          </a:xfrm>
          <a:prstGeom prst="roundRect">
            <a:avLst>
              <a:gd name="adj" fmla="val 390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46520" y="1874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-3%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6446520" y="2651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carteira de clientes praticamente não mudou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309360" y="3794760"/>
            <a:ext cx="2468880" cy="1874520"/>
          </a:xfrm>
          <a:prstGeom prst="roundRect">
            <a:avLst>
              <a:gd name="adj" fmla="val 390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46520" y="39319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-48%</a:t>
            </a:r>
            <a:endParaRPr lang="en-US" sz="4200" dirty="0"/>
          </a:p>
        </p:txBody>
      </p:sp>
      <p:sp>
        <p:nvSpPr>
          <p:cNvPr id="13" name="Text 9"/>
          <p:cNvSpPr/>
          <p:nvPr/>
        </p:nvSpPr>
        <p:spPr>
          <a:xfrm>
            <a:off x="6446520" y="47091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quanto cada cliente usa o banco desabou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052560" y="1737360"/>
            <a:ext cx="2468880" cy="3931920"/>
          </a:xfrm>
          <a:prstGeom prst="roundRect">
            <a:avLst>
              <a:gd name="adj" fmla="val 2963"/>
            </a:avLst>
          </a:prstGeom>
          <a:solidFill>
            <a:srgbClr val="13223F"/>
          </a:solidFill>
          <a:ln/>
        </p:spPr>
      </p:sp>
      <p:sp>
        <p:nvSpPr>
          <p:cNvPr id="15" name="Text 11"/>
          <p:cNvSpPr/>
          <p:nvPr/>
        </p:nvSpPr>
        <p:spPr>
          <a:xfrm>
            <a:off x="923544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churn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9235440" y="25146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27 clientes sumiram entre os semestres de 2025.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Metade da base transacionou nos últimos 12 dias.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2,2% estão parados há mais de seis meses.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9235440" y="4800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não fechou a conta. Ele parou de usar.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causa: a conta nunca foi a principal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Procuramos o salário do cliente na base e ele não está lá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659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4,3%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68680" y="301752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clientes recebem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 de PJ com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regularidade mensal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93008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21608" y="19659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R$ 160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721608" y="301752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recebimento mediano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PJ. Não é salário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ninguém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45936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74536" y="19659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7,4x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574536" y="301752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dinheiro sai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que entra, por PIX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98864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27464" y="19659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9427464" y="301752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1.430 clientes têm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líquido negativo.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uma exceção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3223F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553712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conta funciona como conta de passagem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960120" y="498348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dinheiro chega de outro lugar e é empurrado para fora no mesmo dia. Um banco que nunca foi o principal não precisa perder o cliente para deixar de ser usado.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a entrada de clientes novos parou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 e emissão de cartão, por trimestre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9494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0080" y="3886200"/>
          <a:ext cx="694944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7863840" y="1783080"/>
            <a:ext cx="3657600" cy="1920240"/>
          </a:xfrm>
          <a:prstGeom prst="roundRect">
            <a:avLst>
              <a:gd name="adj" fmla="val 3810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0" y="193852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-85%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046720" y="2743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queda na abertura de contas entre 2023 e o 4T25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863840" y="388620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13223F"/>
          </a:solidFill>
          <a:ln/>
        </p:spPr>
      </p:sp>
      <p:sp>
        <p:nvSpPr>
          <p:cNvPr id="12" name="Text 8"/>
          <p:cNvSpPr/>
          <p:nvPr/>
        </p:nvSpPr>
        <p:spPr>
          <a:xfrm>
            <a:off x="8046720" y="4041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cartões há 7 meses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8046720" y="4462272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cartão sai junto com a conta, nunca a pedido. Em 2025 o banco abriu 189 contas e emitiu 27 cartões.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média trimestral de 2023, excluída a carga inicial da base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2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cadeia causal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70432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achados validados, encadeados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24365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512064" cy="51206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2996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conta nunca foi a principal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00200" y="245059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salário entrando, saindo 7,4x mais do que entra, e nenhum cliente com fluxo positivo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60920" y="21031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vínculo é fraco por construção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852160" y="30723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310128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24365C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3675888"/>
            <a:ext cx="512064" cy="51206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6758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600200" y="351129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vínculo, o uso esvazia sozinho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00200" y="39319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 -48% com a carteira intacta. Só 27 clientes sumiram no ano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60920" y="358444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 de share-of-wallet, não churn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852160" y="45537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791456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2436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5157216"/>
            <a:ext cx="512064" cy="51206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572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1600200" y="499262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a entrada de novos parou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00200" y="5413248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 -85% e zero cartões emitidos desde junho de 2025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60920" y="506577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reposição pela outra ponta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frentes de ação, mais uma de higiene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uma ligada a um achado que sobreviveu ao teste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01168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554480" y="2103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raiz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96112" y="269748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Conquistar a principalidade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96112" y="3310128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Portabilidade de salário assistida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Ativar Open Finance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Rendimento no saldo em conta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Cashback por frequência no cartão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51960" y="178308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07992" y="201168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4507992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166360" y="2103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urgência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07992" y="269748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Reabrir o funil de entrada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07992" y="3310128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por que a emissão parou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de conta 100% digital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Ativação assistida em 30 dias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863840" y="178308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19872" y="201168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8119872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8778240" y="2103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quick win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19872" y="269748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Destravar o investimento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119872" y="3310128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Recadastrar os 255 sem renda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o fluxo de suitability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que vira limite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28032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13223F"/>
          </a:solidFill>
          <a:ln/>
        </p:spPr>
      </p:sp>
      <p:sp>
        <p:nvSpPr>
          <p:cNvPr id="25" name="Shape 23"/>
          <p:cNvSpPr/>
          <p:nvPr/>
        </p:nvSpPr>
        <p:spPr>
          <a:xfrm>
            <a:off x="960120" y="5138928"/>
            <a:ext cx="438912" cy="43891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/>
          <p:nvPr/>
        </p:nvSpPr>
        <p:spPr>
          <a:xfrm>
            <a:off x="960120" y="5138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536192" y="501091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Higiene competitiva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069080" y="5010912"/>
            <a:ext cx="7086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em cada 10 PIX é reprovado, 19x a taxa do cartão. É problema real, mas a taxa é estável desde 2023 e não explica a queda. Consertar em paralelo, sem consumir a prioridade das outras três.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incentivo para usar o cartão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cartão não compete com "não gastar". Compete com o PIX na hora da compra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298448" y="174650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Prêmio por contagem, não por valor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98448" y="2185416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em 5 e 10 compras no mês, com teto. É a métrica-mãe do diagnóstico, e o valor da compra na base é sorteado, não observado.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20040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298448" y="316382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Vale para débito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98448" y="3602736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dos cartões da base é débito com limite zero. Benefício exclusivo de crédito não alcança quem precisamos alcançar.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298448" y="458114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crédito cai no saldo, não em pontos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98448" y="5020056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pontos exige um portal que o cliente já não abre. O saldo é o único lugar por onde o dinheiro dele comprovadamente passa.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635240" y="1783080"/>
            <a:ext cx="3886200" cy="1645920"/>
          </a:xfrm>
          <a:prstGeom prst="roundRect">
            <a:avLst>
              <a:gd name="adj" fmla="val 4444"/>
            </a:avLst>
          </a:prstGeom>
          <a:solidFill>
            <a:srgbClr val="13223F"/>
          </a:solidFill>
          <a:ln/>
        </p:spPr>
      </p:sp>
      <p:sp>
        <p:nvSpPr>
          <p:cNvPr id="19" name="Text 17"/>
          <p:cNvSpPr/>
          <p:nvPr/>
        </p:nvSpPr>
        <p:spPr>
          <a:xfrm>
            <a:off x="7882128" y="19385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paga a conta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882128" y="2359152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no cartão gera interchange, PIX não gera nada. Cada transação migrada cria receita que não existia, e é ela que financia o cashback e dá o teto do quanto oferecer.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35240" y="3703320"/>
            <a:ext cx="3886200" cy="1645920"/>
          </a:xfrm>
          <a:prstGeom prst="roundRect">
            <a:avLst>
              <a:gd name="adj" fmla="val 4444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82128" y="385876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saber se funcionou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882128" y="4279392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Metade da base elegível recebe a oferta, metade não. A leitura é transações por cliente ativo entre os dois grupos. Sem grupo de controle, qualquer alta vira mérito da campanha.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do raciocínio: 7,4x mais dinheiro sai do que entra por PIX · frequência -48% com a carteira intacta · cashback é o primeiro diferencial do LuminaPay no benchmarking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onde começar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Ordenado por retorno sobre esforço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1732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2668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55548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093976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4F6F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1ª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148840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por que a emissão de cartão parou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26680" y="2148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555480" y="2148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271576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2ª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715768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Recadastrar os 255 clientes sem renda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26680" y="27157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555480" y="27157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227832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4F6FA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28269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3ª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3282696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de cashback por frequência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26680" y="328269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555480" y="328269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3849624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4ª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417320" y="3849624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de conta 100% digital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26680" y="38496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555480" y="38496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4361688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4F6FA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441655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5ª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417320" y="4416552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que vira limite de cartão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26680" y="441655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555480" y="441655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77240" y="49834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6ª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417320" y="4983480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Ativação assistida de cartão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726680" y="4983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555480" y="4983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5495544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4F6FA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" y="555040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7ª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417320" y="5550408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Investigação técnica do PIX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726680" y="555040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555480" y="555040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primeiras custam pouco e destravam o resto. As demais exigem projeto e entram em paralelo, sem esperar a primeira terminar.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janelas, do conserto imediato à mudança estrutural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2606040" cy="713232"/>
          </a:xfrm>
          <a:prstGeom prst="roundRect">
            <a:avLst>
              <a:gd name="adj" fmla="val 10256"/>
            </a:avLst>
          </a:prstGeom>
          <a:solidFill>
            <a:srgbClr val="E5484D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83080"/>
            <a:ext cx="2386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Parar a hemorragia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69748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por que a emissão parou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sobre os 255 sem renda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Instrumentar os 8 KPIs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4114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o tamanho do buraco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73552" y="1993392"/>
            <a:ext cx="219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493008" y="1783080"/>
            <a:ext cx="2606040" cy="713232"/>
          </a:xfrm>
          <a:prstGeom prst="roundRect">
            <a:avLst>
              <a:gd name="adj" fmla="val 10256"/>
            </a:avLst>
          </a:prstGeom>
          <a:solidFill>
            <a:srgbClr val="E08A2E"/>
          </a:solidFill>
          <a:ln/>
        </p:spPr>
      </p:sp>
      <p:sp>
        <p:nvSpPr>
          <p:cNvPr id="12" name="Text 10"/>
          <p:cNvSpPr/>
          <p:nvPr/>
        </p:nvSpPr>
        <p:spPr>
          <a:xfrm>
            <a:off x="3602736" y="1783080"/>
            <a:ext cx="2386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wins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38728" y="269748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completo em 97%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de ativação assistida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de cashback com holdout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de portabilidade em 1 praça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538728" y="4114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B0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sem projeto grande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26480" y="1993392"/>
            <a:ext cx="219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45936" y="1783080"/>
            <a:ext cx="2606040" cy="713232"/>
          </a:xfrm>
          <a:prstGeom prst="roundRect">
            <a:avLst>
              <a:gd name="adj" fmla="val 10256"/>
            </a:avLst>
          </a:prstGeom>
          <a:solidFill>
            <a:srgbClr val="3E8FB0"/>
          </a:solidFill>
          <a:ln/>
        </p:spPr>
      </p:sp>
      <p:sp>
        <p:nvSpPr>
          <p:cNvPr id="17" name="Text 15"/>
          <p:cNvSpPr/>
          <p:nvPr/>
        </p:nvSpPr>
        <p:spPr>
          <a:xfrm>
            <a:off x="6455664" y="1783080"/>
            <a:ext cx="2386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Reabrir a entrada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91656" y="269748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100% digital em produção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Finance ativo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novas contas por trimestre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391656" y="4114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3E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 a entrar cliente novo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979408" y="1993392"/>
            <a:ext cx="219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198864" y="1783080"/>
            <a:ext cx="2606040" cy="713232"/>
          </a:xfrm>
          <a:prstGeom prst="roundRect">
            <a:avLst>
              <a:gd name="adj" fmla="val 10256"/>
            </a:avLst>
          </a:prstGeom>
          <a:solidFill>
            <a:srgbClr val="00A896"/>
          </a:solidFill>
          <a:ln/>
        </p:spPr>
      </p:sp>
      <p:sp>
        <p:nvSpPr>
          <p:cNvPr id="22" name="Text 20"/>
          <p:cNvSpPr/>
          <p:nvPr/>
        </p:nvSpPr>
        <p:spPr>
          <a:xfrm>
            <a:off x="9308592" y="1783080"/>
            <a:ext cx="2386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Principalidade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244584" y="269748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Rendimento no saldo em conta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vira limite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com crédito recorrente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244584" y="4114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banco vira a opção padrão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9834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13223F"/>
          </a:solidFill>
          <a:ln/>
        </p:spPr>
      </p:sp>
      <p:sp>
        <p:nvSpPr>
          <p:cNvPr id="26" name="Text 24"/>
          <p:cNvSpPr/>
          <p:nvPr/>
        </p:nvSpPr>
        <p:spPr>
          <a:xfrm>
            <a:off x="960120" y="51663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Métrica-mãe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291840" y="51663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Transações por cliente ativo por trimestre. Hoje 7,1, com teto histórico de 13,7 em 2023. Recuperar o patamar de 2023 é o alvo de 24 meses.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2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uma frase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banco não está perdendo clientes.</a:t>
            </a:r>
            <a:endParaRPr lang="en-US" sz="33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Nunca foi o banco principal deles,</a:t>
            </a:r>
            <a:endParaRPr lang="en-US" sz="33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agora parou de conquistar novos.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1691640" y="4480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hipóteses testadas,</a:t>
            </a:r>
            <a:endParaRPr lang="en-US" sz="12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refutadas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297680" y="443484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349240" y="4480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de tratamento,</a:t>
            </a:r>
            <a:endParaRPr lang="en-US" sz="12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linha excluída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955280" y="443484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9006840" y="4480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frentes de ação ligadas</a:t>
            </a:r>
            <a:endParaRPr lang="en-US" sz="12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achados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Mastercard Challenge 2026  ·  Inteli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Priceless Bank — Diagnóstico e Plano de Ação</dc:title>
  <dc:subject>PptxGenJS Presentation</dc:subject>
  <dc:creator>Inteli · Mastercard Challenge 2026</dc:creator>
  <cp:lastModifiedBy>Inteli · Mastercard Challenge 2026</cp:lastModifiedBy>
  <cp:revision>1</cp:revision>
  <dcterms:created xsi:type="dcterms:W3CDTF">2026-08-23T19:52:19Z</dcterms:created>
  <dcterms:modified xsi:type="dcterms:W3CDTF">2026-08-23T19:52:19Z</dcterms:modified>
</cp:coreProperties>
</file>